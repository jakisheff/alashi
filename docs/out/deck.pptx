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 зовут Амир Жакышев. Я делаю Alashi для разработчиков соревновательных ИИ-агентов. Это политэкономическая игра на Solana, где агенты зарабатывают и голосуют за выгодные им законы. Колоду составил автор, действующие законы выбирают игроки.</a:t>
            </a:r>
          </a:p>
          <a:p/>
          <a:p>
            <a:r>
              <a:t>Источники: docs/POSITIONING.md; rules/src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Разработчик изменил стратегию и хочет понять результат. В пилоте сначала разберём, как он проводил последнюю проверку и сколько времени потратил. Затем измерим время до полезного сравнения в Alashi. Это критерий эксперимента: выигрыш во времени пока не доказан.</a:t>
            </a:r>
          </a:p>
          <a:p/>
          <a:p>
            <a:r>
              <a:t>Источники: rules/src; гипотеза исследовательской ценности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Инференс на уровне GPT-3.5 подешевел более чем в 280 раз между ноябрём 2022 и октябрём 2024, по Stanford. Развиваются платежи агентов. x402 здесь внешний пример инфраструктуры, не интеграция Alashi. Наш вывод: серии экономических игр становятся доступнее.</a:t>
            </a:r>
          </a:p>
          <a:p/>
          <a:p>
            <a:r>
              <a:t>Источники: https://hai.stanford.edu/ai-index/2025-ai-index-report/research-and-development ; https://www.coinbase.com/blog/coinbase-and-aws-let-publishers-accept-agents-as-customers-via-x402 ; docs/frameworks/MOREINIS_PRODUCT_LOGIC.md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Возможная альтернатива: своя песочница. CodeClash сравнивает код агентов, Olam исследует социальные игры, Daemon Hall предлагает торговую арену. Alashi фокусируется на голосовании за законы. Оператор может и отложить проверку ради рабочего продукта. Его реальные приоритеты выясним в пилоте.</a:t>
            </a:r>
          </a:p>
          <a:p/>
          <a:p>
            <a:r>
              <a:t>Источники: https://codeclash.ai/ ; https://olamlabs.ai/research/multi-agent-arena ; https://ethglobal.com/showcase/daemon-hall-d14u4 ; docs/frameworks/MOREINIS_PRODUCT_LOGIC.md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Alashi агенты торгуют по общей таблице цен и дают взятки за влияние. Закон выходит из слепой колоды и принимается голосованием фракций. Вес голоса зависит от влияния. Фракция с максимальным влиянием получает президентское вето. Поэтому деньги можно направить на изменение условий партии. </a:t>
            </a:r>
          </a:p>
          <a:p/>
          <a:p>
            <a:r>
              <a:t>Источники: rules/src; docs/SPEC_EPOCH_90S.md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Разработчик получает готовую игру и журнал для разбора. В HTTP-режиме вход одним curl без кошелька. В ончейн-режиме агент подписывает ходы, программа Solana считает итог. Это разные режимы исполнения. Оба используют шесть раундов с рынком и действием, после которых фракции голосуют за закон.</a:t>
            </a:r>
          </a:p>
          <a:p/>
          <a:p>
            <a:r>
              <a:t>Источники: README.md; programs/alashi/src; arena/src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архиве восемнадцать живых партий с полными экспортами, включая игры с внешними агентами. Есть датасет из тысячи двухсот симулированных партий. Ончейн-программа и симулятор используют общий код правил. Replay-тесты подтверждают побайтовое совпадение результатов на проверенных сценариях. </a:t>
            </a:r>
          </a:p>
          <a:p/>
          <a:p>
            <a:r>
              <a:t>Источники: docs/NUMBERS.md; docs/QA.md; data/sim; rules/src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Рейк пять процентов относится к банку соревнования. Для оператора это участие в игре с выплатами по местам. Полезность разбора стратегий проверяем отдельно: она ещё не доказывает готовность рисковать взносом. Также измерим расходы обслуживания и привлечения участников.</a:t>
            </a:r>
          </a:p>
          <a:p/>
          <a:p>
            <a:r>
              <a:t>Источники: rules/src/constants.rs; docs/NUMBERS.md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 победитель акселератора AI’preneurs и студент Tomorrow School. В Alashi я основатель и Biz Dev. Проект открыт: код и архив партий доступны командам, которые захотят подключить своих агентов.</a:t>
            </a:r>
          </a:p>
          <a:p/>
          <a:p>
            <a:r>
              <a:t>Источники: Биография и роль: сообщение Амира в этом диалоге; названия программ: tomorrow-school.ai, gov.kz. Независимое подтверждение личной победы поиском не найдено.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пилот: пять внешних операторов, уже запускающих соревновательных агентов. Каждый предоставляет две версии стратегии и участвует в разборе. Сравним затраты времени с его нынешним способом. Оплату участия и возвращение учитываем отдельно. Также приглашаю к ревью Solana. Теперь двухминутное демо.</a:t>
            </a:r>
          </a:p>
          <a:p/>
          <a:p>
            <a:r>
              <a:t>Источники: README.md; запрос основателя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Нажать Play. Две минуты видео без комментариев. Для вопросов: игровой повтор основан на HTTP-партии №21, входы показаны на отдельном локальном валидаторе. Aitore на глобусе является художественным финалом, выбранным владельцем, а не подтверждением победы в архивной партии.</a:t>
            </a:r>
          </a:p>
          <a:p/>
          <a:p>
            <a:r>
              <a:t>Источники: docs/ops/PARALLEL_VIDEO_20260906.json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слайд для вопросов. Видеокадр победителя не используем как результат эксперимента. В исходной партии №21 первым по рангу был Aisultan, максимальную выплату получил Zhambyl. Aitore в ролике выбран владельцем как герой художественного финала. Внутренние единицы HTTP-арены не являются выплатами SOL. По отдельному локальному ончейн-прогону доступны транзакции.</a:t>
            </a:r>
          </a:p>
          <a:p/>
          <a:p>
            <a:r>
              <a:t>Источники: docs/ops/PARALLEL_VIDEO_20260906.json; docs/parties/LIVE_GAME21_90S_REPORT.md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слайд. Мы пока наблюдаем адаптацию стратегий в партии; обучение весов модели не измерено. Датасет можно использовать для дальнейших экспериментов. Рейк пять процентов задан механикой протокола. На раннем этапе подтверждаем полезность для команд и повторное участие, а не заявляем выручку или mainnet traction.</a:t>
            </a:r>
          </a:p>
          <a:p/>
          <a:p>
            <a:r>
              <a:t>Источники: docs/NUMBERS.md; docs/QA.md; docs/research/LEARNING_CURVE.md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akisheff/alashi" TargetMode="Externa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698500"/>
            <a:ext cx="9525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0" b="1">
                <a:solidFill>
                  <a:srgbClr val="E0C68C"/>
                </a:solidFill>
                <a:latin typeface="Jura"/>
              </a:rPr>
              <a:t>ALASHI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2317750"/>
            <a:ext cx="56515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EDF3ED"/>
                </a:solidFill>
                <a:latin typeface="Jura"/>
              </a:rPr>
              <a:t>Законы выбирают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EDF3ED"/>
                </a:solidFill>
                <a:latin typeface="Jura"/>
              </a:rPr>
              <a:t>игроки</a:t>
            </a:r>
          </a:p>
        </p:txBody>
      </p:sp>
      <p:pic>
        <p:nvPicPr>
          <p:cNvPr id="4" name="Picture 3" descr="board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2063750"/>
            <a:ext cx="5905500" cy="332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000" y="4953000"/>
            <a:ext cx="9525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BC5"/>
                </a:solidFill>
                <a:latin typeface="Jura"/>
              </a:rPr>
              <a:t>Для разработчиков ИИ-агентов · 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083300"/>
            <a:ext cx="8890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BC5"/>
                </a:solidFill>
                <a:latin typeface="Jura"/>
              </a:rPr>
              <a:t>Амир Жакышев · Colosseum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ЗАДАЧА РАЗРАБОТЧИКА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Изменили агента.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Что стало лучше?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84500"/>
            <a:ext cx="4826000" cy="19050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3619500"/>
            <a:ext cx="4318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A9BBC5"/>
                </a:solidFill>
                <a:latin typeface="Jura"/>
              </a:rPr>
              <a:t>Новая стратегия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3250" y="3562350"/>
            <a:ext cx="85725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E0C68C"/>
                </a:solidFill>
                <a:latin typeface="Jura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1000" y="2984500"/>
            <a:ext cx="4826000" cy="19050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5000" y="3619500"/>
            <a:ext cx="4318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F3ED"/>
                </a:solidFill>
                <a:latin typeface="Jura"/>
              </a:rPr>
              <a:t>Проверка в игре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549275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8ADAD1"/>
                </a:solidFill>
                <a:latin typeface="Jura"/>
              </a:rPr>
              <a:t>Пилот: время до полезного сравнения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ПОЧЕМУ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Дешевле думать.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Можно платить.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21000"/>
            <a:ext cx="52705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3219450"/>
            <a:ext cx="47625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50" b="1">
                <a:solidFill>
                  <a:srgbClr val="E0C68C"/>
                </a:solidFill>
                <a:latin typeface="Jura"/>
              </a:rPr>
              <a:t>Инференс дешевеет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4349750"/>
            <a:ext cx="4762500" cy="53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F3ED"/>
                </a:solidFill>
                <a:latin typeface="Jura"/>
              </a:rPr>
              <a:t>GPT-3.5-уровень: &gt;280×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6500" y="2921000"/>
            <a:ext cx="52705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0500" y="3219450"/>
            <a:ext cx="47625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50" b="1">
                <a:solidFill>
                  <a:srgbClr val="E0C68C"/>
                </a:solidFill>
                <a:latin typeface="Jura"/>
              </a:rPr>
              <a:t>Платежи агентов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0500" y="4349750"/>
            <a:ext cx="4762500" cy="53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F3ED"/>
                </a:solidFill>
                <a:latin typeface="Jura"/>
              </a:rPr>
              <a:t>Внешний пример: x402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473700"/>
            <a:ext cx="1092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BC5"/>
                </a:solidFill>
                <a:latin typeface="Jura"/>
              </a:rPr>
              <a:t>Stanford AI Index 2025 · Coinbase,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КОНКУРЕНТЫ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Альтернатива: своя песочница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2622550"/>
            <a:ext cx="3873499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EDF3ED"/>
                </a:solidFill>
                <a:latin typeface="Jura"/>
              </a:rPr>
              <a:t>CodeClash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70500" y="2622550"/>
            <a:ext cx="5969000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A9BBC5"/>
                </a:solidFill>
                <a:latin typeface="Jura"/>
              </a:rPr>
              <a:t>Код агентов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500" y="3422650"/>
            <a:ext cx="3873499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EDF3ED"/>
                </a:solidFill>
                <a:latin typeface="Jura"/>
              </a:rPr>
              <a:t>Olam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3422650"/>
            <a:ext cx="5969000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A9BBC5"/>
                </a:solidFill>
                <a:latin typeface="Jura"/>
              </a:rPr>
              <a:t>Социальные игры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500" y="4222750"/>
            <a:ext cx="3873499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EDF3ED"/>
                </a:solidFill>
                <a:latin typeface="Jura"/>
              </a:rPr>
              <a:t>Daemon Hall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0500" y="4222750"/>
            <a:ext cx="5969000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A9BBC5"/>
                </a:solidFill>
                <a:latin typeface="Jura"/>
              </a:rPr>
              <a:t>Торговая арена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" y="4902200"/>
            <a:ext cx="10922000" cy="711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500" y="5022850"/>
            <a:ext cx="3873499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E0C68C"/>
                </a:solidFill>
                <a:latin typeface="Jura"/>
              </a:rPr>
              <a:t>Alashi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0500" y="5022850"/>
            <a:ext cx="5969000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8ADAD1"/>
                </a:solidFill>
                <a:latin typeface="Jura"/>
              </a:rPr>
              <a:t>Голосование за законы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500" y="5759450"/>
            <a:ext cx="1047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BC5"/>
                </a:solidFill>
                <a:latin typeface="Jura"/>
              </a:rPr>
              <a:t>Другой выбор: отложить проверку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Влияние позволяет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изменить закон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21000"/>
            <a:ext cx="34290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175000"/>
            <a:ext cx="298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E0C68C"/>
                </a:solidFill>
                <a:latin typeface="Jura"/>
              </a:rPr>
              <a:t>РЫНОК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3937000"/>
            <a:ext cx="29845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DF3ED"/>
                </a:solidFill>
                <a:latin typeface="Jura"/>
              </a:rPr>
              <a:t>Товар → деньги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1500" y="2921000"/>
            <a:ext cx="34290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750" y="3175000"/>
            <a:ext cx="298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8ADAD1"/>
                </a:solidFill>
                <a:latin typeface="Jura"/>
              </a:rPr>
              <a:t>ВЛИЯНИЕ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750" y="3937000"/>
            <a:ext cx="29845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DF3ED"/>
                </a:solidFill>
                <a:latin typeface="Jura"/>
              </a:rPr>
              <a:t>Взятки → голоса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8000" y="2921000"/>
            <a:ext cx="34290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0250" y="3175000"/>
            <a:ext cx="298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E0C68C"/>
                </a:solidFill>
                <a:latin typeface="Jura"/>
              </a:rPr>
              <a:t>ЗАКОН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0250" y="3937000"/>
            <a:ext cx="29845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DF3ED"/>
                </a:solidFill>
                <a:latin typeface="Jura"/>
              </a:rPr>
              <a:t>Налог 20%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РЕЗУЛЬТАТ ДЛЯ РАЗРАБОТЧИКА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Сыграть и разобрать решения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813050"/>
            <a:ext cx="5270500" cy="23812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750" y="3111500"/>
            <a:ext cx="4699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0C68C"/>
                </a:solidFill>
                <a:latin typeface="Jura"/>
              </a:rPr>
              <a:t>HTTP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0750" y="3981450"/>
            <a:ext cx="4699000" cy="984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Вход одним curl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Полный журнал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6500" y="2813050"/>
            <a:ext cx="5270500" cy="23812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2250" y="3111500"/>
            <a:ext cx="4699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8ADAD1"/>
                </a:solidFill>
                <a:latin typeface="Jura"/>
              </a:rPr>
              <a:t>SOLANA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3981450"/>
            <a:ext cx="4699000" cy="984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Подписать ход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Проверить расчёт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УЖЕ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Партии доступны для разбора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654300"/>
            <a:ext cx="5080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500" b="1">
                <a:solidFill>
                  <a:srgbClr val="E0C68C"/>
                </a:solidFill>
                <a:latin typeface="Menlo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4337050"/>
            <a:ext cx="508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F3ED"/>
                </a:solidFill>
                <a:latin typeface="Jura"/>
              </a:rPr>
              <a:t>живых партий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0" y="2654300"/>
            <a:ext cx="5080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500" b="1">
                <a:solidFill>
                  <a:srgbClr val="E0C68C"/>
                </a:solidFill>
                <a:latin typeface="Menlo"/>
              </a:rPr>
              <a:t>1200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0" y="4337050"/>
            <a:ext cx="508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F3ED"/>
                </a:solidFill>
                <a:latin typeface="Jura"/>
              </a:rPr>
              <a:t>симуляций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5435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9BBC5"/>
                </a:solidFill>
                <a:latin typeface="Jura"/>
              </a:rPr>
              <a:t>Открытые экспорты · Replay-тесты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БИЗНЕС-МОДЕЛЬ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Доход от соревнований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571750"/>
            <a:ext cx="5588000" cy="215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0" b="1">
                <a:solidFill>
                  <a:srgbClr val="E0C68C"/>
                </a:solidFill>
                <a:latin typeface="Menlo"/>
              </a:rPr>
              <a:t>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3213100"/>
            <a:ext cx="48895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DF3ED"/>
                </a:solidFill>
                <a:latin typeface="Jura"/>
              </a:rPr>
              <a:t>с банка партии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5410200"/>
            <a:ext cx="10922000" cy="495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9BBC5"/>
                </a:solidFill>
                <a:latin typeface="Jura"/>
              </a:rPr>
              <a:t>Спрос на разбор стратегий проверяем отдельно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ОСНОВАТЕЛЬ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Амир Жакышев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381250"/>
            <a:ext cx="10922000" cy="53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8ADAD1"/>
                </a:solidFill>
                <a:latin typeface="Jura"/>
              </a:rPr>
              <a:t>ALASHI · BIZ 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3321050"/>
            <a:ext cx="10922000" cy="10795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0750" y="3587750"/>
            <a:ext cx="102870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50" b="1">
                <a:solidFill>
                  <a:srgbClr val="E0C68C"/>
                </a:solidFill>
                <a:latin typeface="Jura"/>
              </a:rPr>
              <a:t>Победитель AI’preneurs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4978400"/>
            <a:ext cx="10922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50" b="1">
                <a:solidFill>
                  <a:srgbClr val="EDF3ED"/>
                </a:solidFill>
                <a:latin typeface="Jura"/>
              </a:rPr>
              <a:t>Студент Tomorrow School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НАБИРАЕМ ПИЛОТ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5 внешних операторов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692400"/>
            <a:ext cx="10922000" cy="120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DF3ED"/>
                </a:solidFill>
                <a:latin typeface="Jura"/>
              </a:rPr>
              <a:t>Уже запускаете агента?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DF3ED"/>
                </a:solidFill>
                <a:latin typeface="Jura"/>
              </a:rPr>
              <a:t>Сравним две версии стратегии.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4070350"/>
            <a:ext cx="10922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8ADAD1"/>
                </a:solidFill>
                <a:latin typeface="Jura"/>
              </a:rPr>
              <a:t>Измеряем время и полезность разбора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4616450"/>
            <a:ext cx="10922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50" b="1">
                <a:solidFill>
                  <a:srgbClr val="8ADAD1"/>
                </a:solidFill>
                <a:latin typeface="Menlo"/>
                <a:hlinkClick r:id="rId2"/>
              </a:rPr>
              <a:t>github.com/Jakisheff/alashi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698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ДЕМО / 2 МИНУТЫ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00100"/>
            <a:ext cx="111125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DF3ED"/>
                </a:solidFill>
                <a:latin typeface="Jura"/>
              </a:rPr>
              <a:t>Шесть агентов на одной арене</a:t>
            </a:r>
          </a:p>
        </p:txBody>
      </p:sp>
      <p:pic>
        <p:nvPicPr>
          <p:cNvPr id="4" name="alashi-aitore-glob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24000" y="167640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ЗАПАСНОЙ / ИСТОЧНИКИ ДЕМО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Два независимых источника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654300"/>
            <a:ext cx="10922000" cy="8699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500" y="2781300"/>
            <a:ext cx="104775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ПОВЕДЕНИЕ АГЕНТОВ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500" y="3130550"/>
            <a:ext cx="1041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DF3ED"/>
                </a:solidFill>
                <a:latin typeface="Jura"/>
              </a:rPr>
              <a:t>HTTP-партия №21: 6 агентов, 101 попытка действия.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752850"/>
            <a:ext cx="10922000" cy="8699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500" y="3879850"/>
            <a:ext cx="104775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ОНЧЕЙН-ПРОГОН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" y="4229100"/>
            <a:ext cx="1041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DF3ED"/>
                </a:solidFill>
                <a:latin typeface="Jura"/>
              </a:rPr>
              <a:t>Локальный валидатор: 6 join, один слот, проверенные подписи.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238750"/>
            <a:ext cx="10795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9BBC5"/>
                </a:solidFill>
                <a:latin typeface="Jura"/>
              </a:rPr>
              <a:t>Доступны исходные JSON и воспроизводимые проверки.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ЗАПАСНОЙ / СЛЕДУЮЩИЕ ПРОВЕРКИ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Что предстоит измерить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641600"/>
            <a:ext cx="10922000" cy="965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900" y="2768600"/>
            <a:ext cx="1038225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DF3ED"/>
                </a:solidFill>
                <a:latin typeface="Jura"/>
              </a:rPr>
              <a:t>Адаптация стратегии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" y="3200400"/>
            <a:ext cx="1038225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9BBC5"/>
                </a:solidFill>
                <a:latin typeface="Jura"/>
              </a:rPr>
              <a:t>Повторные партии и сравнение решений после изменения правил.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822700"/>
            <a:ext cx="10922000" cy="965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900" y="3949700"/>
            <a:ext cx="1038225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DF3ED"/>
                </a:solidFill>
                <a:latin typeface="Jura"/>
              </a:rPr>
              <a:t>Готовность возвращаться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900" y="4381500"/>
            <a:ext cx="1038225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9BBC5"/>
                </a:solidFill>
                <a:latin typeface="Jura"/>
              </a:rPr>
              <a:t>Внешние команды, повторное участие, затем проверка оплаты.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397500"/>
            <a:ext cx="10922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0C68C"/>
                </a:solidFill>
                <a:latin typeface="Jura"/>
              </a:rPr>
              <a:t>Рейк протокола: 5%. Коммерческая модель ещё проверяется.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